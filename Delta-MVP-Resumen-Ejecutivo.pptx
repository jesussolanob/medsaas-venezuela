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8A65">
              <a:alpha val="15000"/>
            </a:srgbClr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1440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097280"/>
            <a:ext cx="228600" cy="22860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960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SAAS · VENEZUELA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Medical CRM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del MVP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médico omnicanal para especialistas en Venezuela.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consultas, finanzas, portal del paciente y booking público en una sola plataforma.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Jesús Solano · Abril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6126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medsaas-venezuela.vercel.app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 hoy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21 slides desde el problema hasta el roadmap del MVP.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52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privada en Venezuela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52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Delta Medical CRM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SaaS multi-tenant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584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actores del sistema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858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Doctor · Paciente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493008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584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3858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la beta privada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42816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52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334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por 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608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cada usuario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4242816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52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4334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4608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planes + feature gating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992624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63040" y="50840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Innovaciones clave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5358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prepagados, agenda GCal, plantillas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4992624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86600" y="50840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seguridad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86600" y="5358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742432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852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463040" y="5833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del producto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63040" y="6108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tablas · 50+ endpoints · 49 tests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5742432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5852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086600" y="5833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roadmap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86600" y="6108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listo y qué viene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privada en Venezuela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especialista médico venezolano trabaja con herramientas fragmentadas, procesos manuales y sin visibilidad de su negocio.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175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como agenda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347472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citas se coordinan por mensajes dispersos. No hay recordatorios automáticos, confirmaciones ni bloqueo de slots.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8160" y="283464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8160" y="283464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4192" y="30175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manuales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4192" y="347472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Móvil, Zelle, Binance, efectivo. Cada uno verificado a mano, sin tracking de pendientes ni cuadre diario.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7680" y="283464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7680" y="283464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3712" y="301752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en papel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3712" y="347472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en gavetas. Imposible buscar rápido, compartir con el paciente o ver el historial cuando vuelve.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61772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8006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y tasa BCV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525780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en bolívares cambia cada día. Calcular conversiones es tedioso y propenso a error.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8160" y="461772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8160" y="461772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4192" y="48006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 del negocio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84192" y="525780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pacientes vi este mes? ¿Cuánto facturé? ¿Cuántos no volvieron? Nadie lo sabe.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7680" y="4617720"/>
            <a:ext cx="3505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7680" y="4617720"/>
            <a:ext cx="73152" cy="1508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3712" y="480060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perdidos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3712" y="5257800"/>
            <a:ext cx="313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recordatorios ni seguimiento, el paciente se pierde entre consultas. No hay fidelización ni paquetes.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Medical CRM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SaaS multi-tenant que consolida agenda, clínico, cobros y CRM en una sola plataforma. Web, responsive, listo desde el navegador.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029200" cy="338328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26080"/>
            <a:ext cx="137160" cy="13716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137160" cy="13716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926080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926080"/>
            <a:ext cx="356616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926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delta.health/doctor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Dr. Martínez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luce tu día de hoy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14173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69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$1.240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hoy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023360"/>
            <a:ext cx="14173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069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37744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4023360"/>
            <a:ext cx="14173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069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3192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citas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5349240"/>
            <a:ext cx="448056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49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  María Pérez · Presencial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5623560"/>
            <a:ext cx="448056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623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  José González · Online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5897880"/>
            <a:ext cx="448056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897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  Ana Rivas · Paquete 3/5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27889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278892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72200" y="31821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consultas, cobros, CRM y portal del paciente en una sola plataforma.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36576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365760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 Venezuela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72200" y="4050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locales, tasa BCV automática, idioma es-VE.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452628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452628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Multi-especialidad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72200" y="4919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clínicas por especialidad configurables.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539496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539496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5486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pasivo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172200" y="57881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sesiones prepagadas cobrados upfront.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ACTORES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usa el sistema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con accesos y responsabilidades bien diferenciadas. RBAC en middleware y Row Level Security en la base de datos.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834640"/>
            <a:ext cx="36576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Administrador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la plataforma completa. Gestiona doctores, planes, features, promociones y admins.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Activar/desactivar médicos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planes y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suscripciones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KPIs globales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Setear tasa BCV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2834640"/>
            <a:ext cx="365760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02 · 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Especialista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principal. Opera su agenda, pacientes, consultas, finanzas, CRM y configuración.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4805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tipo Google Calendar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digital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prepagados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cobros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leads y mensajes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2834640"/>
            <a:ext cx="3657600" cy="54864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end-to-end. Agenda, ve recetas, informes, paquetes activos y se comunica con el doctor.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desde /book/doctor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próxima cita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recetas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el doctor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paquetes activos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ALCANCE MVP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la beta privada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gratis por 1 año a los primeros médicos. La beta valida el flujo completo antes de activar el modelo de pago.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52578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INCLUIDO EN LA BETA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 de médicos con verificación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admin completo (médicos, planes, features, BCV)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médico con KPIs y citas del día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semanal / mensual / día con bloqueos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público sin cuenta (/book/doctorId)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prepagados con validación transaccional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bloques configurables y snapshot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por especialidad (7 especialidades)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clínica, recetas, EHR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del doctor + marcar pagos aprobados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BCV automática (USD/EUR) + custom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paciente con mensajes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tests E2E Playwright en CI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834640"/>
            <a:ext cx="5257800" cy="45720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834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FUERA DEL ALCANCE BETA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474720"/>
            <a:ext cx="5257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automático de suscripción (tarjeta / Stripe)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aprobación de comprobantes de pago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WhatsApp/Email automatizados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clínica multi-médicos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 descargables para pacientes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HCE/facturación nacional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con video integrado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de recetas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 (solo web responsive)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médico / pólizas (fuera de scope)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referidos / afiliados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WhatsApp Business API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diagnóstica avanzada (solo asistencia básica)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FLUJO · SUPER ADMIN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plataforma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 administrador configura los motores que todo médico consume. Cambios aquí impactan todos los tenants.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97480" y="3127248"/>
            <a:ext cx="146304" cy="128016"/>
          </a:xfrm>
          <a:prstGeom prst="rtTriangle">
            <a:avLst/>
          </a:prstGeom>
          <a:solidFill>
            <a:srgbClr val="97A3AF"/>
          </a:solidFill>
          <a:ln w="12700">
            <a:solidFill>
              <a:srgbClr val="97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o Google. RBAC valida rol super_admin antes de entrar.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926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planes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029200" y="3127248"/>
            <a:ext cx="146304" cy="128016"/>
          </a:xfrm>
          <a:prstGeom prst="rtTriangle">
            <a:avLst/>
          </a:prstGeom>
          <a:solidFill>
            <a:srgbClr val="97A3AF"/>
          </a:solidFill>
          <a:ln w="12700">
            <a:solidFill>
              <a:srgbClr val="97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566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Activar/desactivar trial, basic, professional, clinic. Setear precios.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926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978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Setea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360920" y="3127248"/>
            <a:ext cx="146304" cy="128016"/>
          </a:xfrm>
          <a:prstGeom prst="rtTriangle">
            <a:avLst/>
          </a:prstGeom>
          <a:solidFill>
            <a:srgbClr val="97A3AF"/>
          </a:solidFill>
          <a:ln w="12700">
            <a:solidFill>
              <a:srgbClr val="97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566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por plan: dashboard, agenda, EHR, finanzas, CRM, etc. 13 features.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2926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médicos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692640" y="3127248"/>
            <a:ext cx="146304" cy="128016"/>
          </a:xfrm>
          <a:prstGeom prst="rtTriangle">
            <a:avLst/>
          </a:prstGeom>
          <a:solidFill>
            <a:srgbClr val="97A3AF"/>
          </a:solidFill>
          <a:ln w="12700">
            <a:solidFill>
              <a:srgbClr val="97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566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lista, crear, cambiar plan, extender suscripción, suspender.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12680" y="2926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6132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KPIs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0" y="3566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médicos activos, ingresos, suscripciones, trial expirando.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303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DEL ADMIN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6235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5623560"/>
            <a:ext cx="1856232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18488" y="562356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/admin/doctors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66160" y="5623560"/>
            <a:ext cx="1636776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6235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/admin/plans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94376" y="5623560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4376" y="5623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/admin/plan-features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0416" y="5623560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0416" y="5623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/admin/subscriptions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06456" y="5623560"/>
            <a:ext cx="2075688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06456" y="56235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/admin/reminders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2673584" y="56235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673584" y="5623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/admin/settings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FLUJO · MÉDICO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a día del doctor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 del MVP. El médico pasa 80% del tiempo entre dashboard, agenda y consultas.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8892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perfil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público, link de booking, métodos de pago, horarios, bloques de consulta, plantillas.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78892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278892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0872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paciente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0872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vías: booking público, invitación por link, o creación manual desde /doctor/patients.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278892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78892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7072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la cita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7072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si el paciente reserva, o manual desde el modal acordeón de 6 pasos.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48056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/ recuerda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5394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 cita. En el futuro: recordatorios WhatsApp automáticos 7d/24h/3h/1h.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44805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448056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0872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la consulta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90872" y="5394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consulta con bloques dinámicos según especialidad. Firma diagnóstico + receta.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44805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448056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77072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77072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y cierra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7072" y="5394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pago como aprobado. Si viene de paquete, descuenta sesión automática. Finanzas actualiza.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validado en 49 tests E2E Playwright + 15 flujos críticos documentados en CLAUDE.md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FLUJO · PACIENTE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end-to-end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llega desde Instagram/WhatsApp del doctor, agenda solo, paga, y tiene portal para toda su historia clínica.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017520"/>
            <a:ext cx="0" cy="29718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88950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al doctor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a link público /book/[doctorId] desde redes, WhatsApp, Google, tarjeta del consultorio.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" y="3483864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sin cuenta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acordeón 5 pasos. Elige consulta, fecha, modalidad, método de pago, sube comprobante.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" y="4078224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confirmación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code único. Si crea cuenta, todo queda ligado a su perfil permanente.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9264" y="4672584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(opcional)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/patient/register crea cuenta con metadata role='patient'. Desbloquea portal completo.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" y="5266944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5266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paquete prepagado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440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/patient compra N sesiones al doctor. Futuras citas se agendan sin pagar otra vez.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9264" y="5861304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5760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portal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/patient/dashboard: próxima cita, paquetes activos, recetas, informes, chat con el doctor.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MÓDULOS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módulos del doctor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se muestra u oculta según el plan del doctor (feature gating). El admin controla qué plan habilita qué módulo.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día + citas + finanzas 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7889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7889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semana/mes/día + slots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+ detalle + historial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27889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7889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dinámicos por especialidad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033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electrónico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7033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7033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1188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+ pagos aprobados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7033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7033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emitidas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37033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52560" y="37033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8116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+ stats + exportables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6177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6177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+ seguimiento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46177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46177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1188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plantillas WhatsApp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46177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46177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4652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pacientes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52560" y="46177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52560" y="461772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81160" y="4709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28116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único por paciente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55321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5532120"/>
            <a:ext cx="9144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/ Paquetes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77240" y="5916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paquetes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/settings (perfil, booking, pagos, tasa cambio) + /settings/consultation-blocks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MODELO DE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planes de suscripción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privada con plan Trial gratis 1 año. Planes pagos configurados en BD, activación post-beta.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834640"/>
            <a:ext cx="2743200" cy="3383280"/>
          </a:xfrm>
          <a:prstGeom prst="rect">
            <a:avLst/>
          </a:prstGeom>
          <a:solidFill>
            <a:srgbClr val="0F1A2A"/>
          </a:solidFill>
          <a:ln w="25400">
            <a:solidFill>
              <a:srgbClr val="FF8A6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74520" y="2697480"/>
            <a:ext cx="1143000" cy="27432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· AHORA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· BETA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1 año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22860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754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producto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de pacientes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 especialidades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WhatsApp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47472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4617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754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+ pacientes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básicas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EHR avanzado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8346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4008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617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754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BASIC +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completo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+ reportería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leads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98280" y="28346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93268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26880" y="4617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4754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PROFESSIONAL +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Multi-médicos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clínica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batch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gating: tabla plan_features controla qué módulos habilita cada plan. Admin lo configura desde /admin/plan-features.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INNOVACIÓN · PAQUETES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sesiones prepagadas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compra 5 sesiones upfront, el doctor cobra por adelantado. Descuento automático y audit trail inmutable.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ATÓMICO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crea template: '5 sesiones cardio · $150'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compra en /book → INSERT patient_packages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 nueva cita con paquete → RPC book_with_package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hace SELECT FOR UPDATE (lock de fila)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Valida: ownership, doctor correcto, sesiones disponibles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782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atómico: +1 appointment, -1 used_session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AFTER UPDATE → log en package_balance_log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274320" cy="27432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5422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used_sessions = total → status='completed' automático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2788920"/>
            <a:ext cx="5029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2788920"/>
            <a:ext cx="7315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MÉDICO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39712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adelantado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39712" y="3703320"/>
            <a:ext cx="4663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5 sesiones upfront. Flujo de caja predecible.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4023360"/>
            <a:ext cx="5029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0" y="402336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PACIENTE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39712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por volumen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39712" y="4937760"/>
            <a:ext cx="4663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menos por sesión. Mayor adherencia al tratamiento.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5257800"/>
            <a:ext cx="5029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5257800"/>
            <a:ext cx="73152" cy="114300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9712" y="5440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TÉCNICO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39712" y="5715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race conditions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39712" y="6172200"/>
            <a:ext cx="4663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 + trigger de auditoría. Atomic, sin bugs.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INNOVACIÓN · PLANTILLAS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clínicas por especialidad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especialidad tiene bloques de consulta diferentes. Cardiología usa exámenes, Psicología usa tareas, Nutrición usa plan alimenticio.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91440" cy="155448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Cardiología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918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17904" y="3291840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7904" y="32918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3291840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2918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3584448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84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83664" y="3584448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3584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44368" y="3584448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35844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" y="3877056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7705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64208" y="387705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38770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control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34840" y="27889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2788920"/>
            <a:ext cx="9144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32918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2918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04104" y="3291840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04104" y="32918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37960" y="3291840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291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sesión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584448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584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9864" y="3584448"/>
            <a:ext cx="135331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9864" y="358444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para casa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8770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8770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38770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38770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internas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21040" y="27889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2788920"/>
            <a:ext cx="91440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Fisioterapia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595360" y="32918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95360" y="32918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90304" y="3291840"/>
            <a:ext cx="142646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90304" y="329184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física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789920" y="3291840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9920" y="3291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595360" y="358444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358444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ejercicios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168128" y="3584448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68128" y="35844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595360" y="38770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0" y="38770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" y="45720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572000"/>
            <a:ext cx="91440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Pediatría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22960" y="507492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" y="50749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517904" y="5074920"/>
            <a:ext cx="142646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17904" y="50749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familiar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22960" y="5367528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0" y="53675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029968" y="5367528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29968" y="5367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y talla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22960" y="5660136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2960" y="56601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883664" y="5660136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83664" y="566013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22960" y="595274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5952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176272" y="595274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76272" y="5952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control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434840" y="45720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34840" y="4572000"/>
            <a:ext cx="9144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709160" y="507492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50749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404104" y="5074920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04104" y="50749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Antropometría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709160" y="5367528"/>
            <a:ext cx="135331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53675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alimenticio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35624" y="536752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35624" y="536752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709160" y="566013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09160" y="5660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062472" y="566013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62472" y="5660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control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8321040" y="45720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21040" y="4572000"/>
            <a:ext cx="91440" cy="1554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59536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8595360" y="507492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95360" y="50749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9290304" y="5074920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90304" y="50749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497312" y="5074920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497312" y="507492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595360" y="5367528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595360" y="536752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656064" y="5367528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656064" y="5367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8595360" y="566013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595360" y="5660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control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consultation_block_catalog (15 bloques). Defaults: specialty_default_blocks. Personalización: doctor_consultation_blocks.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INNOVACIÓN · 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estilo Google Calendar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 con 3 vistas + 6 filtros + modal con acciones rápidas + RPC transaccional para cambios de estado.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/ Mes / Día con scroll horizontal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29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· Agendadas · Aprobadas · Rechazadas · Asistió · No asistió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23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cita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completa + 4 botones: Confirmar / Atendida / Cancelar / No asistió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17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reschedule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una cita la reagenda (con validación de conflictos)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12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marca días/horas bloqueadas (vacaciones, cirugías)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06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6080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en appointment_changes_log con actor y timestamp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788920"/>
            <a:ext cx="5212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2788920"/>
            <a:ext cx="5212080" cy="36576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26880" y="2834640"/>
            <a:ext cx="68580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58400" y="2834640"/>
            <a:ext cx="685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789920" y="2834640"/>
            <a:ext cx="685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10697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29154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47611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66069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84526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02983" y="3200400"/>
            <a:ext cx="71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56417" y="3611880"/>
            <a:ext cx="627017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56417" y="361188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56417" y="3977640"/>
            <a:ext cx="627017" cy="3657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56417" y="397764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74874" y="3703320"/>
            <a:ext cx="627017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74874" y="370332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693331" y="3657600"/>
            <a:ext cx="627017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93331" y="365760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693331" y="4251960"/>
            <a:ext cx="627017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93331" y="425196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411789" y="3794760"/>
            <a:ext cx="627017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1789" y="3794760"/>
            <a:ext cx="627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10697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29154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47611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66069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84526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02983" y="3429000"/>
            <a:ext cx="0" cy="27889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INNOVACIÓN · PAGOS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pago venezolanos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métodos locales soportados + tasa BCV automática con fallback a 3 fuentes externas.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862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Móvil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0886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0886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602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4602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Soberanos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2910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910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626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6626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4934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934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650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Pay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8650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958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958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674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0674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Bs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89820" y="28346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89820" y="2834640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2698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2698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CAMBIO AUTOMÁTICA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4800600"/>
            <a:ext cx="2606040" cy="118872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4800600"/>
            <a:ext cx="26060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983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PyDolarVE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5394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/api/v2/dollar + /euro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5166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383280" y="4800600"/>
            <a:ext cx="2606040" cy="118872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4800600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4983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DolarAPI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566160" y="5394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si PyDolarVE falla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5166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172200" y="4800600"/>
            <a:ext cx="2606040" cy="118872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4800600"/>
            <a:ext cx="2606040" cy="54864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983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BCV scraping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55080" y="5394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 de bcv.org.ve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0" y="5166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8961120" y="4800600"/>
            <a:ext cx="2606040" cy="1188720"/>
          </a:xfrm>
          <a:prstGeom prst="rect">
            <a:avLst/>
          </a:prstGeom>
          <a:solidFill>
            <a:srgbClr val="0F1A2A"/>
          </a:solidFill>
          <a:ln w="12700">
            <a:solidFill>
              <a:srgbClr val="0F1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61120" y="4800600"/>
            <a:ext cx="2606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4983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Custom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144000" y="5394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setea tasa manual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10 minutos. Si una fuente falla, cae a la siguiente. El doctor nunca ve tasas en cero.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SEGURIDAD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capas de seguridad independientes. Bypass una, las otras 4 siguen activas.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82296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(Supabase)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0906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autogestionado con refresh tokens. Cookies HTTP-only. Google OAuth disponible.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2296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RBAC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7307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middleware.ts intercepta /admin, /doctor, /patient. Redirige según rol antes de renderizar.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82296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3708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requireSuperAdmin(), requireRole(['doctor']) validan antes de cualquier operación sensible.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82296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0109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las tablas tienen policies RLS. Un doctor jamás recibe filas de otro.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82296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49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5394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checks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6509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PL/pgSQL validan ownership con SELECT FOR UPDATE. No hay bypass por query directo.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2636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65960" y="6263640"/>
            <a:ext cx="1984248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62636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cookies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87368" y="626364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87368" y="6263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rotación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05856" y="626364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05856" y="62636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100%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626364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62636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38744" y="626364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38744" y="6263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diarios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MÉTRICAS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en números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objetivo del código y el schema. Todo medible, todo versionado.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BD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7889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83280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funcionales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7889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7889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fuertes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69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48640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RPCs con lock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69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3383280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automáticos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069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217920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SQL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2560" y="39776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4069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052560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2578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548640" y="5879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RBAC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516636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52578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3383280" y="5879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gateables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516636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52578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217920" y="5879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clínicos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52560" y="516636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52578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9052560" y="5879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RLS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STACK TÉCNICO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 2026 con foco en velocidad, seguridad y bajo costo operativo.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788920"/>
            <a:ext cx="36576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788920"/>
            <a:ext cx="36576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42900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Next.js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 RPCs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788920"/>
            <a:ext cx="3657600" cy="45720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INTEGRACIONES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Network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BCV + PyDolarVE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(IA)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1.55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ESTADO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listo · Qué falta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al 22 de abril de 2026. MVP deployado y funcional en producción con usuarios reales de beta.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55321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55321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ESTÁ EN PRODUCCIÓN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SQL completo con RLS + triggers + RPCs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unificado con redirección por rol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admin: dashboard, médicos, planes,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dashboard, agenda, pacientes, consultas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EHR, finanzas, facturación, CRM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plantillas por especialidad y bloques custom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portal, citas, mensajes, paquetes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público tipo acordeón con paquetes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gating dinámico por plan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BCV automática USD/EUR/custom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tests E2E Playwright pasando 100%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534924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A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88920"/>
            <a:ext cx="5349240" cy="50292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788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 POR HACER POST-BETA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bloqueante de suscripción vencida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de recordatorios WhatsApp/Email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cron para check_expired_subscriptions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WhatsApp Business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/ email transaccional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clínica multi-médicos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 descargables para pacientes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automático de suscripción (Stripe/otro)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aprobación de comprobantes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 iOS/Android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integración y unitarios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HEALTH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347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 Delta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3 fases para consolidar el producto y escalar el negocio.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88920"/>
            <a:ext cx="109728" cy="3520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HARDENING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 2026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tests unitarios + integración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Edge Function de recordatorios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WhatsApp Business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suscripción vencida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 para médicos nuevos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2788920"/>
            <a:ext cx="109728" cy="352044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MONETIZACIÓN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319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Jul-Sep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26280" y="370332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8404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cobros automáticos (Stripe o local)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aprobación de comprobantes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transaccional (Resend o similar)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billing para admin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beta privada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78892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2788920"/>
            <a:ext cx="109728" cy="3520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ESCALA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319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Oct-Dic 2026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12480" y="370332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38404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clínica multi-médicos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iOS/Android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 descargables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con video integrado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referidos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6400800" cy="6400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00400"/>
            <a:ext cx="6400800" cy="6400800"/>
          </a:xfrm>
          <a:prstGeom prst="ellipse">
            <a:avLst/>
          </a:prstGeom>
          <a:solidFill>
            <a:srgbClr val="FF8A65">
              <a:alpha val="15000"/>
            </a:srgbClr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Medical CRM · Beta Privada ·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producción con médicos reales. Código versionado en GitHub. Deploy continuo en Vercel.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medsaas-venezuela.vercel.app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Solano · jesussolano4@gmail.com · Abril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6355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355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6355080"/>
            <a:ext cx="1078992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635508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6432" y="6355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6355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73752" y="6355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6355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91072" y="6355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6355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08392" y="6355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6355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Delta Health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Medical CRM — Resumen ejecutivo MVP</dc:title>
  <dc:subject>PptxGenJS Presentation</dc:subject>
  <dc:creator>Jesús Solano</dc:creator>
  <cp:lastModifiedBy>Jesús Solano</cp:lastModifiedBy>
  <cp:revision>1</cp:revision>
  <dcterms:created xsi:type="dcterms:W3CDTF">2026-04-22T01:53:27Z</dcterms:created>
  <dcterms:modified xsi:type="dcterms:W3CDTF">2026-04-22T01:53:27Z</dcterms:modified>
</cp:coreProperties>
</file>